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85C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0"/>
            <a:ext cx="3867912" cy="6858000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49807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GLOBAL TEMPERATURE
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0604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C4DEE0"/>
                </a:solidFill>
                <a:latin typeface="Aptos"/>
              </a:rPr>
              <a:t>Linear algebra from raw climate data to a 2100 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30368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UE25MA242A  |  Mathematical Foundation for AI &amp;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72237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4DEE0"/>
                </a:solidFill>
                <a:latin typeface="Aptos"/>
              </a:rPr>
              <a:t>Mini Project – Problem 8
Preetham S.  •  1st Year B.Tech CSE  •  PES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265176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1880 → 2100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9952" y="333756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ptos"/>
              </a:rPr>
              <a:t>Vandermonde matrices
QR orthogonalization
Least squares
Eigenvalue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F30"/>
                </a:solidFill>
                <a:latin typeface="Aptos"/>
              </a:rPr>
              <a:t>The question and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7"/>
                </a:solidFill>
                <a:latin typeface="Aptos"/>
              </a:rPr>
              <a:t>One dataset, several linear-algebra viewpoints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D6C77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303520" cy="448056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9196"/>
                </a:solidFill>
                <a:latin typeface="Aptos"/>
              </a:rPr>
              <a:t>Project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434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D1F30"/>
                </a:solidFill>
                <a:latin typeface="Aptos"/>
              </a:rPr>
              <a:t>Can a transparent mathematical pipeline turn annual global temperature anomalies into a defensible long-range trend projection?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4389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5C4A"/>
                </a:solidFill>
                <a:latin typeface="Aptos"/>
              </a:rPr>
              <a:t>The result is a mathematical projection—not a physical climate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57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39"/>
            <a:ext cx="320040" cy="27432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426464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F30"/>
                </a:solidFill>
                <a:latin typeface="Apto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435607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C77"/>
                </a:solidFill>
                <a:latin typeface="Aptos"/>
              </a:rPr>
              <a:t>NASA GISTEMP v4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176272"/>
            <a:ext cx="5257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313432"/>
            <a:ext cx="320040" cy="27432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276856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F30"/>
                </a:solidFill>
                <a:latin typeface="Aptos"/>
              </a:rPr>
              <a:t>Represent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C77"/>
                </a:solidFill>
                <a:latin typeface="Aptos"/>
              </a:rPr>
              <a:t>Vandermonde / design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026664"/>
            <a:ext cx="5257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63824"/>
            <a:ext cx="320040" cy="27432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1272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F30"/>
                </a:solidFill>
                <a:latin typeface="Aptos"/>
              </a:rPr>
              <a:t>Solve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1363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C77"/>
                </a:solidFill>
                <a:latin typeface="Aptos"/>
              </a:rPr>
              <a:t>RREF, Gaussian, LU, QR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77056"/>
            <a:ext cx="5257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14216"/>
            <a:ext cx="320040" cy="27432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97764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F30"/>
                </a:solidFill>
                <a:latin typeface="Aptos"/>
              </a:rPr>
              <a:t>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98678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C77"/>
                </a:solidFill>
                <a:latin typeface="Aptos"/>
              </a:rPr>
              <a:t>Projection + eigendecomposition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727448"/>
            <a:ext cx="5257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864608"/>
            <a:ext cx="320040" cy="274320"/>
          </a:xfrm>
          <a:prstGeom prst="rect">
            <a:avLst/>
          </a:prstGeom>
          <a:solidFill>
            <a:srgbClr val="009196"/>
          </a:solidFill>
          <a:ln>
            <a:solidFill>
              <a:srgbClr val="009196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82803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1F30"/>
                </a:solidFill>
                <a:latin typeface="Aptos"/>
              </a:rPr>
              <a:t>Forecast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37176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C77"/>
                </a:solidFill>
                <a:latin typeface="Aptos"/>
              </a:rPr>
              <a:t>2050 and 2100 anomalies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F30"/>
                </a:solidFill>
                <a:latin typeface="Aptos"/>
              </a:rPr>
              <a:t>Data: a real-world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7"/>
                </a:solidFill>
                <a:latin typeface="Aptos"/>
              </a:rPr>
              <a:t>Live NASA download with an embedded offline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D6C77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926080" cy="438912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2377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009196"/>
                </a:solidFill>
                <a:latin typeface="Aptos"/>
              </a:rPr>
              <a:t>146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D1F30"/>
                </a:solidFill>
                <a:latin typeface="Aptos"/>
              </a:rPr>
              <a:t>annual values
1880–2025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D6C77"/>
                </a:solidFill>
                <a:latin typeface="Aptos"/>
              </a:rPr>
              <a:t>Anomaly relative to the 1951–1980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85C4A"/>
                </a:solidFill>
                <a:latin typeface="Aptos"/>
              </a:rPr>
              <a:t>Observed range
−0.49°C to +1.29°C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417320"/>
            <a:ext cx="7223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2303C"/>
                </a:solidFill>
                <a:latin typeface="Aptos"/>
              </a:defRPr>
            </a:pPr>
            <a:r>
              <a:t>Source: NASA GISTEMP v4 global annual mean</a:t>
            </a:r>
          </a:p>
          <a:p>
            <a:pPr>
              <a:spcAft>
                <a:spcPts val="1400"/>
              </a:spcAft>
              <a:defRPr sz="2000" b="0">
                <a:solidFill>
                  <a:srgbClr val="22303C"/>
                </a:solidFill>
                <a:latin typeface="Aptos"/>
              </a:defRPr>
            </a:pPr>
            <a:r>
              <a:t>The script downloads the current CSV.</a:t>
            </a:r>
          </a:p>
          <a:p>
            <a:pPr>
              <a:spcAft>
                <a:spcPts val="1400"/>
              </a:spcAft>
              <a:defRPr sz="2000" b="0">
                <a:solidFill>
                  <a:srgbClr val="22303C"/>
                </a:solidFill>
                <a:latin typeface="Aptos"/>
              </a:defRPr>
            </a:pPr>
            <a:r>
              <a:t>If the network is unavailable, the embedded copy keeps the analysis reproducible.</a:t>
            </a:r>
          </a:p>
          <a:p>
            <a:pPr>
              <a:spcAft>
                <a:spcPts val="1400"/>
              </a:spcAft>
              <a:defRPr sz="2000" b="0">
                <a:solidFill>
                  <a:srgbClr val="22303C"/>
                </a:solidFill>
                <a:latin typeface="Aptos"/>
              </a:defRPr>
            </a:pPr>
            <a:r>
              <a:t>Time is scaled as  t = (year − 1950) / 50  to improve numerical conditioning.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8006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09196"/>
                </a:solidFill>
                <a:latin typeface="Aptos"/>
              </a:rPr>
              <a:t>Why scale time?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120640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C77"/>
                </a:solidFill>
                <a:latin typeface="Aptos"/>
              </a:rPr>
              <a:t>Using raw years would make powers in a degree-7 Vandermonde matrix unnecessarily large. Scaling keeps the same model meaning while making the computation safer.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F30"/>
                </a:solidFill>
                <a:latin typeface="Aptos"/>
              </a:rPr>
              <a:t>From data to equations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7"/>
                </a:solidFill>
                <a:latin typeface="Aptos"/>
              </a:rPr>
              <a:t>Interpolation uses a Vandermonde matrix; regression uses an overdetermined design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D6C77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94960" cy="443484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9196"/>
                </a:solidFill>
                <a:latin typeface="Aptos"/>
              </a:rPr>
              <a:t>Exact interpolation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D1F30"/>
                </a:solidFill>
                <a:latin typeface="Aptos"/>
              </a:rPr>
              <a:t>V c = 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5262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22303C"/>
                </a:solidFill>
                <a:latin typeface="Aptos"/>
              </a:rPr>
              <a:t>8 nodes: every 10 years from 1880 to 1950
Vᵢ = [1, tᵢ, tᵢ², …, tᵢ⁷]
Solve with RREF, Gaussian elimination, and LU.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92040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85C4A"/>
                </a:solidFill>
                <a:latin typeface="Aptos"/>
              </a:rPr>
              <a:t>Check: max |RREF − NumPy| = 1.26 × 10⁻⁸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3444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54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9196"/>
                </a:solidFill>
                <a:latin typeface="Aptos"/>
              </a:rPr>
              <a:t>Approximate 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48840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D1F30"/>
                </a:solidFill>
                <a:latin typeface="Aptos"/>
              </a:rPr>
              <a:t>A x ≈ 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389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22303C"/>
                </a:solidFill>
                <a:latin typeface="Aptos"/>
              </a:rPr>
              <a:t>146 observations, 3 features for the selected degree-2 model
The data vector is not exactly in Col(A), so project it onto that subspace.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9204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85C4A"/>
                </a:solidFill>
                <a:latin typeface="Aptos"/>
              </a:rPr>
              <a:t>Overdetermined system → least squares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F30"/>
                </a:solidFill>
                <a:latin typeface="Aptos"/>
              </a:rPr>
              <a:t>Exact interpolation: useful, but sensitive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7"/>
                </a:solidFill>
                <a:latin typeface="Aptos"/>
              </a:rPr>
              <a:t>The generated plot compares the degree-7 interpolant with actual early-record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D6C77"/>
                </a:solidFill>
                <a:latin typeface="Aptos"/>
              </a:rPr>
              <a:t>5</a:t>
            </a:r>
          </a:p>
        </p:txBody>
      </p:sp>
      <p:pic>
        <p:nvPicPr>
          <p:cNvPr id="6" name="Picture 5" descr="interpo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315200" cy="5074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417320"/>
            <a:ext cx="3429000" cy="438912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73736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196"/>
                </a:solidFill>
                <a:latin typeface="Aptos"/>
              </a:rPr>
              <a:t>What it demonstrates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240280"/>
            <a:ext cx="2788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2303C"/>
                </a:solidFill>
                <a:latin typeface="Aptos"/>
              </a:defRPr>
            </a:pPr>
            <a:r>
              <a:t>The interpolant passes through the 8 chosen nodes.</a:t>
            </a:r>
          </a:p>
          <a:p>
            <a:pPr>
              <a:spcAft>
                <a:spcPts val="1000"/>
              </a:spcAft>
              <a:defRPr sz="1500" b="0">
                <a:solidFill>
                  <a:srgbClr val="22303C"/>
                </a:solidFill>
                <a:latin typeface="Aptos"/>
              </a:defRPr>
            </a:pPr>
            <a:r>
              <a:t>63 other early years are treated as missing and estimated.</a:t>
            </a:r>
          </a:p>
          <a:p>
            <a:pPr>
              <a:spcAft>
                <a:spcPts val="1000"/>
              </a:spcAft>
              <a:defRPr sz="1500" b="1">
                <a:solidFill>
                  <a:srgbClr val="22303C"/>
                </a:solidFill>
                <a:latin typeface="Aptos"/>
              </a:defRPr>
            </a:pPr>
            <a:r>
              <a:t>Degree-7 missing-year RMSE: 0.252°C.</a:t>
            </a:r>
          </a:p>
          <a:p>
            <a:pPr>
              <a:spcAft>
                <a:spcPts val="1000"/>
              </a:spcAft>
              <a:defRPr sz="1500" b="1">
                <a:solidFill>
                  <a:srgbClr val="22303C"/>
                </a:solidFill>
                <a:latin typeface="Aptos"/>
              </a:defRPr>
            </a:pPr>
            <a:r>
              <a:t>Local cubic gap filling improves RMSE to 0.088°C.</a:t>
            </a:r>
          </a:p>
          <a:p>
            <a:pPr>
              <a:spcAft>
                <a:spcPts val="1000"/>
              </a:spcAft>
              <a:defRPr sz="1500" b="0">
                <a:solidFill>
                  <a:srgbClr val="22303C"/>
                </a:solidFill>
                <a:latin typeface="Aptos"/>
              </a:defRPr>
            </a:pPr>
            <a:r>
              <a:t>High-degree exact fits can oscillate between nodes.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F30"/>
                </a:solidFill>
                <a:latin typeface="Aptos"/>
              </a:rPr>
              <a:t>Subspaces, QR, and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7"/>
                </a:solidFill>
                <a:latin typeface="Aptos"/>
              </a:rPr>
              <a:t>The least-squares estimate is the closest point to y inside the polynomial trend subspace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D6C77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45262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9196"/>
                </a:solidFill>
                <a:latin typeface="Aptos"/>
              </a:rPr>
              <a:t>Orthogonalization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0D1F30"/>
                </a:solidFill>
                <a:latin typeface="Aptos"/>
              </a:rPr>
              <a:t>A = Q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2303C"/>
                </a:solidFill>
                <a:latin typeface="Aptos"/>
              </a:defRPr>
            </a:pPr>
            <a:r>
              <a:t>Modified Gram–Schmidt builds an orthonormal basis Q.</a:t>
            </a:r>
          </a:p>
          <a:p>
            <a:pPr>
              <a:spcAft>
                <a:spcPts val="1200"/>
              </a:spcAft>
              <a:defRPr sz="1800" b="1">
                <a:solidFill>
                  <a:srgbClr val="22303C"/>
                </a:solidFill>
                <a:latin typeface="Aptos"/>
              </a:defRPr>
            </a:pPr>
            <a:r>
              <a:t>||QᵀQ − I|| = 2.90 × 10⁻¹⁵</a:t>
            </a:r>
          </a:p>
          <a:p>
            <a:pPr>
              <a:spcAft>
                <a:spcPts val="1200"/>
              </a:spcAft>
              <a:defRPr sz="1800" b="1">
                <a:solidFill>
                  <a:srgbClr val="22303C"/>
                </a:solidFill>
                <a:latin typeface="Aptos"/>
              </a:defRPr>
            </a:pPr>
            <a:r>
              <a:t>||A − QR|| is approximately zero.</a:t>
            </a:r>
          </a:p>
          <a:p>
            <a:pPr>
              <a:spcAft>
                <a:spcPts val="1200"/>
              </a:spcAft>
              <a:defRPr sz="1800" b="0">
                <a:solidFill>
                  <a:srgbClr val="22303C"/>
                </a:solidFill>
                <a:latin typeface="Aptos"/>
              </a:defRPr>
            </a:pPr>
            <a:r>
              <a:t>The selected model has rank 3 and nullity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3444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9196"/>
                </a:solidFill>
                <a:latin typeface="Aptos"/>
              </a:rPr>
              <a:t>Orthogonal 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0312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D1F30"/>
                </a:solidFill>
                <a:latin typeface="Aptos"/>
              </a:rPr>
              <a:t>P = Q Qᵀ     ŷ = P y     r = y − 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971800"/>
            <a:ext cx="4251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2303C"/>
                </a:solidFill>
                <a:latin typeface="Aptos"/>
              </a:defRPr>
            </a:pPr>
            <a:r>
              <a:t>P is symmetric and idempotent: P² = P.</a:t>
            </a:r>
          </a:p>
          <a:p>
            <a:pPr>
              <a:spcAft>
                <a:spcPts val="1200"/>
              </a:spcAft>
              <a:defRPr sz="1800" b="0">
                <a:solidFill>
                  <a:srgbClr val="22303C"/>
                </a:solidFill>
                <a:latin typeface="Aptos"/>
              </a:defRPr>
            </a:pPr>
            <a:r>
              <a:t>The residual is perpendicular to Col(A).</a:t>
            </a:r>
          </a:p>
          <a:p>
            <a:pPr>
              <a:spcAft>
                <a:spcPts val="1200"/>
              </a:spcAft>
              <a:defRPr sz="1800" b="1">
                <a:solidFill>
                  <a:srgbClr val="22303C"/>
                </a:solidFill>
                <a:latin typeface="Aptos"/>
              </a:defRPr>
            </a:pPr>
            <a:r>
              <a:t>||Aᵀr|| = 3.43 × 10⁻¹⁵</a:t>
            </a:r>
          </a:p>
          <a:p>
            <a:pPr>
              <a:spcAft>
                <a:spcPts val="1200"/>
              </a:spcAft>
              <a:defRPr sz="1800" b="0">
                <a:solidFill>
                  <a:srgbClr val="22303C"/>
                </a:solidFill>
                <a:latin typeface="Aptos"/>
              </a:defRPr>
            </a:pPr>
            <a:r>
              <a:t>This is the geometric meaning of least squares.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F30"/>
                </a:solidFill>
                <a:latin typeface="Aptos"/>
              </a:rPr>
              <a:t>Model selection: choose degree by extrapolation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7"/>
                </a:solidFill>
                <a:latin typeface="Aptos"/>
              </a:rPr>
              <a:t>Train on 1880–2000; test on unseen years 2001 onward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D6C77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1371600" cy="530352"/>
          </a:xfrm>
          <a:prstGeom prst="roundRect">
            <a:avLst/>
          </a:prstGeom>
          <a:solidFill>
            <a:srgbClr val="009196"/>
          </a:solidFill>
          <a:ln w="12700"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45336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417320"/>
            <a:ext cx="2743200" cy="530352"/>
          </a:xfrm>
          <a:prstGeom prst="roundRect">
            <a:avLst/>
          </a:prstGeom>
          <a:solidFill>
            <a:srgbClr val="009196"/>
          </a:solidFill>
          <a:ln w="12700"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1545336"/>
            <a:ext cx="2596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Train RMSE (°C)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417320"/>
            <a:ext cx="2560320" cy="530352"/>
          </a:xfrm>
          <a:prstGeom prst="roundRect">
            <a:avLst/>
          </a:prstGeom>
          <a:solidFill>
            <a:srgbClr val="009196"/>
          </a:solidFill>
          <a:ln w="12700"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0912" y="1545336"/>
            <a:ext cx="24140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Test RMSE (°C)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417320"/>
            <a:ext cx="1828800" cy="530352"/>
          </a:xfrm>
          <a:prstGeom prst="roundRect">
            <a:avLst/>
          </a:prstGeom>
          <a:solidFill>
            <a:srgbClr val="009196"/>
          </a:solidFill>
          <a:ln w="12700">
            <a:solidFill>
              <a:srgbClr val="009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71231" y="1545336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1984248"/>
            <a:ext cx="1371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121408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1984248"/>
            <a:ext cx="2743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67712" y="2121408"/>
            <a:ext cx="2596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0.1378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1984248"/>
            <a:ext cx="2560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2121408"/>
            <a:ext cx="24140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0.4927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984248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2121408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606040"/>
            <a:ext cx="1371600" cy="566928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743200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2606040"/>
            <a:ext cx="2743200" cy="566928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67712" y="2743200"/>
            <a:ext cx="2596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0.1175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2606040"/>
            <a:ext cx="2560320" cy="566928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10912" y="2743200"/>
            <a:ext cx="24140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0.2226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2606040"/>
            <a:ext cx="1828800" cy="566928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1" y="2743200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85C4A"/>
                </a:solidFill>
                <a:latin typeface="Aptos"/>
              </a:rPr>
              <a:t>SELECTED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227832"/>
            <a:ext cx="1371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364992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3227832"/>
            <a:ext cx="2743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67712" y="3364992"/>
            <a:ext cx="2596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0.1174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3227832"/>
            <a:ext cx="2560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364992"/>
            <a:ext cx="24140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0.2640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3227832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71231" y="3364992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/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3849624"/>
            <a:ext cx="1371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6112" y="3986784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94560" y="3849624"/>
            <a:ext cx="2743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67712" y="3986784"/>
            <a:ext cx="2596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0.1099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0" y="3849624"/>
            <a:ext cx="2560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10912" y="3986784"/>
            <a:ext cx="24140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0.4316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79" y="3849624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71231" y="3986784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/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4471416"/>
            <a:ext cx="1371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4608576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94560" y="4471416"/>
            <a:ext cx="27432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67712" y="4608576"/>
            <a:ext cx="25968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0.1098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37760" y="4471416"/>
            <a:ext cx="2560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4608576"/>
            <a:ext cx="24140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>0.6019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79" y="4471416"/>
            <a:ext cx="1828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71231" y="4608576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22303C"/>
                </a:solidFill>
                <a:latin typeface="Aptos"/>
              </a:rPr>
              <a:t/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493776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0D1F30"/>
                </a:solidFill>
                <a:latin typeface="Aptos"/>
              </a:rPr>
              <a:t>The lowest test error—not the lowest training error—determines the degree.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44068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D6C77"/>
                </a:solidFill>
                <a:latin typeface="Aptos"/>
              </a:rPr>
              <a:t>This guards against choosing a flexible polynomial that memorizes the past but extrapolates poorly.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F30"/>
                </a:solidFill>
                <a:latin typeface="Aptos"/>
              </a:rPr>
              <a:t>Least-squares fit: numerical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7"/>
                </a:solidFill>
                <a:latin typeface="Aptos"/>
              </a:rPr>
              <a:t>Three solution routes agree, and the fit explains most of the observed 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D6C77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468880" cy="13258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64208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9196"/>
                </a:solidFill>
                <a:latin typeface="Aptos"/>
              </a:rPr>
              <a:t>0.1205°C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48840"/>
            <a:ext cx="2249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C77"/>
                </a:solidFill>
                <a:latin typeface="Aptos"/>
              </a:rPr>
              <a:t>fit RMSE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17320"/>
            <a:ext cx="2468880" cy="13258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1664208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9196"/>
                </a:solidFill>
                <a:latin typeface="Aptos"/>
              </a:rPr>
              <a:t>0.9098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2148840"/>
            <a:ext cx="2249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C77"/>
                </a:solidFill>
                <a:latin typeface="Aptos"/>
              </a:rPr>
              <a:t>R²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417320"/>
            <a:ext cx="2468880" cy="13258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664208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9196"/>
                </a:solidFill>
                <a:latin typeface="Aptos"/>
              </a:rPr>
              <a:t>2.64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148840"/>
            <a:ext cx="2249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C77"/>
                </a:solidFill>
                <a:latin typeface="Aptos"/>
              </a:rPr>
              <a:t>condition number of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417320"/>
            <a:ext cx="2468880" cy="13258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5168" y="1664208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9196"/>
                </a:solidFill>
                <a:latin typeface="Aptos"/>
              </a:rPr>
              <a:t>3.33 × 10⁻¹⁶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2148840"/>
            <a:ext cx="22494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6C77"/>
                </a:solidFill>
                <a:latin typeface="Aptos"/>
              </a:rPr>
              <a:t>diagonalization vs QR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54680"/>
            <a:ext cx="108813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47472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D1F30"/>
                </a:solidFill>
                <a:latin typeface="Aptos"/>
              </a:rPr>
              <a:t>The implementation validates the same coefficient vector through: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9196"/>
                </a:solidFill>
                <a:latin typeface="Aptos"/>
              </a:rPr>
              <a:t>Normal equations       →       QR / back-substitution       →       NumPy least_squares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75488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D6C77"/>
                </a:solidFill>
                <a:latin typeface="Aptos"/>
              </a:rPr>
              <a:t>Residual orthogonality and the Pythagorean identity provide independent geometric checks.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F30"/>
                </a:solidFill>
                <a:latin typeface="Aptos"/>
              </a:rPr>
              <a:t>The forecast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7"/>
                </a:solidFill>
                <a:latin typeface="Aptos"/>
              </a:rPr>
              <a:t>Degree-2 least squares is the selected extrapolation model; comparison curves show model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D6C77"/>
                </a:solidFill>
                <a:latin typeface="Aptos"/>
              </a:rPr>
              <a:t>9</a:t>
            </a:r>
          </a:p>
        </p:txBody>
      </p:sp>
      <p:pic>
        <p:nvPicPr>
          <p:cNvPr id="6" name="Picture 5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818120" cy="5349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41080" y="1417320"/>
            <a:ext cx="2971800" cy="443484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17373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9196"/>
                </a:solidFill>
                <a:latin typeface="Aptos"/>
              </a:rPr>
              <a:t>How to read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24028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2303C"/>
                </a:solidFill>
                <a:latin typeface="Aptos"/>
              </a:defRPr>
            </a:pPr>
            <a:r>
              <a:t>Grey dots: annual NASA anomalies.</a:t>
            </a:r>
          </a:p>
          <a:p>
            <a:pPr>
              <a:spcAft>
                <a:spcPts val="1000"/>
              </a:spcAft>
              <a:defRPr sz="1500" b="0">
                <a:solidFill>
                  <a:srgbClr val="22303C"/>
                </a:solidFill>
                <a:latin typeface="Aptos"/>
              </a:defRPr>
            </a:pPr>
            <a:r>
              <a:t>Crimson: selected degree-2 trend.</a:t>
            </a:r>
          </a:p>
          <a:p>
            <a:pPr>
              <a:spcAft>
                <a:spcPts val="1000"/>
              </a:spcAft>
              <a:defRPr sz="1500" b="0">
                <a:solidFill>
                  <a:srgbClr val="22303C"/>
                </a:solidFill>
                <a:latin typeface="Aptos"/>
              </a:defRPr>
            </a:pPr>
            <a:r>
              <a:t>Dashed / dotted lines: degree-1 and degree-3 sensitivity checks.</a:t>
            </a:r>
          </a:p>
          <a:p>
            <a:pPr>
              <a:spcAft>
                <a:spcPts val="1000"/>
              </a:spcAft>
              <a:defRPr sz="1500" b="0">
                <a:solidFill>
                  <a:srgbClr val="22303C"/>
                </a:solidFill>
                <a:latin typeface="Aptos"/>
              </a:defRPr>
            </a:pPr>
            <a:r>
              <a:t>Shaded region: approximate 95% prediction band.</a:t>
            </a:r>
          </a:p>
          <a:p>
            <a:pPr>
              <a:spcAft>
                <a:spcPts val="1000"/>
              </a:spcAft>
              <a:defRPr sz="1500" b="1">
                <a:solidFill>
                  <a:srgbClr val="22303C"/>
                </a:solidFill>
                <a:latin typeface="Aptos"/>
              </a:defRPr>
            </a:pPr>
            <a:r>
              <a:t>The band widens farther into the future.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F30"/>
                </a:solidFill>
                <a:latin typeface="Aptos"/>
              </a:rPr>
              <a:t>Forecast values: mathematical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7"/>
                </a:solidFill>
                <a:latin typeface="Aptos"/>
              </a:rPr>
              <a:t>Anomaly relative to the 1951–1980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D6C77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371600"/>
            <a:ext cx="1920240" cy="59436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0D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51790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371600"/>
            <a:ext cx="2834640" cy="59436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0D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51790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3657600" cy="59436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0D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179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Approx. 95% band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2011680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1762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2303C"/>
                </a:solidFill>
                <a:latin typeface="Aptos"/>
              </a:rPr>
              <a:t>2030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011680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17627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E85C4A"/>
                </a:solidFill>
                <a:latin typeface="Aptos"/>
              </a:rPr>
              <a:t>+1.13°C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3657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7627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2303C"/>
                </a:solidFill>
                <a:latin typeface="Aptos"/>
              </a:rPr>
              <a:t>[+0.88, +1.38]°C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0" y="2724912"/>
            <a:ext cx="1920240" cy="6400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288950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2303C"/>
                </a:solidFill>
                <a:latin typeface="Aptos"/>
              </a:rPr>
              <a:t>2050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2724912"/>
            <a:ext cx="2834640" cy="6400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88950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E85C4A"/>
                </a:solidFill>
                <a:latin typeface="Aptos"/>
              </a:rPr>
              <a:t>+1.63°C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724912"/>
            <a:ext cx="3657600" cy="6400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8950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2303C"/>
                </a:solidFill>
                <a:latin typeface="Aptos"/>
              </a:rPr>
              <a:t>[+1.36, +1.90]°C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3438144"/>
            <a:ext cx="19202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360273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2303C"/>
                </a:solidFill>
                <a:latin typeface="Aptos"/>
              </a:rPr>
              <a:t>2075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3438144"/>
            <a:ext cx="283464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3602736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E85C4A"/>
                </a:solidFill>
                <a:latin typeface="Aptos"/>
              </a:rPr>
              <a:t>+2.36°C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438144"/>
            <a:ext cx="3657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0273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2303C"/>
                </a:solidFill>
                <a:latin typeface="Aptos"/>
              </a:rPr>
              <a:t>[+2.06, +2.66]°C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4151376"/>
            <a:ext cx="1920240" cy="6400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431596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2303C"/>
                </a:solidFill>
                <a:latin typeface="Aptos"/>
              </a:rPr>
              <a:t>2100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4151376"/>
            <a:ext cx="2834640" cy="6400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431596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E85C4A"/>
                </a:solidFill>
                <a:latin typeface="Aptos"/>
              </a:rPr>
              <a:t>+3.21°C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151376"/>
            <a:ext cx="3657600" cy="6400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31596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22303C"/>
                </a:solidFill>
                <a:latin typeface="Aptos"/>
              </a:rPr>
              <a:t>[+2.85, +3.57]°C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074920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D1F30"/>
                </a:solidFill>
                <a:latin typeface="Aptos"/>
              </a:rPr>
              <a:t>The model projects continued warming, but uncertainty and model-form sensitivity increase with horizon.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F30"/>
                </a:solidFill>
                <a:latin typeface="Aptos"/>
              </a:rPr>
              <a:t>Eigenvalues: the structure of AᵀA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7"/>
                </a:solidFill>
                <a:latin typeface="Aptos"/>
              </a:rPr>
              <a:t>Diagonalization provides a third way to understand the least-squares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D6C77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166360" cy="443484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0D1F30"/>
                </a:solidFill>
                <a:latin typeface="Aptos"/>
              </a:rPr>
              <a:t>AᵀA = Qₑ Λ Qₑᵀ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09196"/>
                </a:solidFill>
                <a:latin typeface="Aptos"/>
              </a:rPr>
              <a:t>Eigenvalues (descending)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2303C"/>
                </a:solidFill>
                <a:latin typeface="Aptos"/>
              </a:rPr>
              <a:t>246.1765     102.8811     35.2531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9476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D6C77"/>
                </a:solidFill>
                <a:latin typeface="Aptos"/>
              </a:rPr>
              <a:t>Energy share: 64.1%  •  26.8%  •  9.2%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5C4A"/>
                </a:solidFill>
                <a:latin typeface="Aptos"/>
              </a:rPr>
              <a:t>Power iteration matches the dominant eigenvalue.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9196"/>
                </a:solidFill>
                <a:latin typeface="Aptos"/>
              </a:rP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 b="0">
                <a:solidFill>
                  <a:srgbClr val="22303C"/>
                </a:solidFill>
                <a:latin typeface="Aptos"/>
              </a:defRPr>
            </a:pPr>
            <a:r>
              <a:t>AᵀA is symmetric, so its eigenvalues are real and its eigenvectors are orthogonal.</a:t>
            </a:r>
          </a:p>
          <a:p>
            <a:pPr>
              <a:spcAft>
                <a:spcPts val="1300"/>
              </a:spcAft>
              <a:defRPr sz="1800" b="0">
                <a:solidFill>
                  <a:srgbClr val="22303C"/>
                </a:solidFill>
                <a:latin typeface="Aptos"/>
              </a:defRPr>
            </a:pPr>
            <a:r>
              <a:t>Λ turns the coupled system into independent eigen-directions.</a:t>
            </a:r>
          </a:p>
          <a:p>
            <a:pPr>
              <a:spcAft>
                <a:spcPts val="1300"/>
              </a:spcAft>
              <a:defRPr sz="1800" b="1">
                <a:solidFill>
                  <a:srgbClr val="22303C"/>
                </a:solidFill>
                <a:latin typeface="Aptos"/>
              </a:defRPr>
            </a:pPr>
            <a:r>
              <a:t>x = Qₑ Λ⁻¹ Qₑᵀ Aᵀy reproduces the QR solution.</a:t>
            </a:r>
          </a:p>
          <a:p>
            <a:pPr>
              <a:spcAft>
                <a:spcPts val="1300"/>
              </a:spcAft>
              <a:defRPr sz="1800" b="1">
                <a:solidFill>
                  <a:srgbClr val="22303C"/>
                </a:solidFill>
                <a:latin typeface="Aptos"/>
              </a:defRPr>
            </a:pPr>
            <a:r>
              <a:t>Reconstruction error: 2.32 × 10⁻¹³.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D1F30"/>
                </a:solidFill>
                <a:latin typeface="Aptos"/>
              </a:rPr>
              <a:t>Conclusion and responsible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607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C77"/>
                </a:solidFill>
                <a:latin typeface="Aptos"/>
              </a:rPr>
              <a:t>What the project demonstrates—and what it does 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D6C77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5303520" cy="4526280"/>
          </a:xfrm>
          <a:prstGeom prst="roundRect">
            <a:avLst/>
          </a:prstGeom>
          <a:solidFill>
            <a:srgbClr val="EFF7F7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09196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2303C"/>
                </a:solidFill>
                <a:latin typeface="Aptos"/>
              </a:defRPr>
            </a:pPr>
            <a:r>
              <a:t>Linear algebra converts climate observations into matrices, subspaces, projections, and eigen-directions.</a:t>
            </a:r>
          </a:p>
          <a:p>
            <a:pPr>
              <a:spcAft>
                <a:spcPts val="1200"/>
              </a:spcAft>
              <a:defRPr sz="1700" b="0">
                <a:solidFill>
                  <a:srgbClr val="22303C"/>
                </a:solidFill>
                <a:latin typeface="Aptos"/>
              </a:defRPr>
            </a:pPr>
            <a:r>
              <a:t>Exact interpolation can fill gaps, but least squares is better suited to noisy, overdetermined observations.</a:t>
            </a:r>
          </a:p>
          <a:p>
            <a:pPr>
              <a:spcAft>
                <a:spcPts val="1200"/>
              </a:spcAft>
              <a:defRPr sz="1700" b="0">
                <a:solidFill>
                  <a:srgbClr val="22303C"/>
                </a:solidFill>
                <a:latin typeface="Aptos"/>
              </a:defRPr>
            </a:pPr>
            <a:r>
              <a:t>Independent algorithms and residual identities verify the numerical work.</a:t>
            </a:r>
          </a:p>
          <a:p>
            <a:pPr>
              <a:spcAft>
                <a:spcPts val="1200"/>
              </a:spcAft>
              <a:defRPr sz="1700" b="1">
                <a:solidFill>
                  <a:srgbClr val="22303C"/>
                </a:solidFill>
                <a:latin typeface="Aptos"/>
              </a:defRPr>
            </a:pPr>
            <a:r>
              <a:t>The selected degree-2 model projects +1.63°C in 2050 and +3.21°C in 2100.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2763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85C4A"/>
                </a:solidFill>
                <a:latin typeface="Aptos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434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22303C"/>
                </a:solidFill>
                <a:latin typeface="Aptos"/>
              </a:defRPr>
            </a:pPr>
            <a:r>
              <a:t>A polynomial extrapolation assumes the past trend shape continues.</a:t>
            </a:r>
          </a:p>
          <a:p>
            <a:pPr>
              <a:spcAft>
                <a:spcPts val="1200"/>
              </a:spcAft>
              <a:defRPr sz="1700" b="0">
                <a:solidFill>
                  <a:srgbClr val="22303C"/>
                </a:solidFill>
                <a:latin typeface="Aptos"/>
              </a:defRPr>
            </a:pPr>
            <a:r>
              <a:t>It does not model emissions, feedbacks, volcanic forcing, or ENSO variability.</a:t>
            </a:r>
          </a:p>
          <a:p>
            <a:pPr>
              <a:spcAft>
                <a:spcPts val="1200"/>
              </a:spcAft>
              <a:defRPr sz="1700" b="0">
                <a:solidFill>
                  <a:srgbClr val="22303C"/>
                </a:solidFill>
                <a:latin typeface="Aptos"/>
              </a:defRPr>
            </a:pPr>
            <a:r>
              <a:t>The prediction bands quantify statistical extrapolation uncertainty, not full physical-climate uncertainty.</a:t>
            </a:r>
          </a:p>
          <a:p>
            <a:pPr>
              <a:spcAft>
                <a:spcPts val="1200"/>
              </a:spcAft>
              <a:defRPr sz="1700" b="1">
                <a:solidFill>
                  <a:srgbClr val="22303C"/>
                </a:solidFill>
                <a:latin typeface="Aptos"/>
              </a:defRPr>
            </a:pPr>
            <a:r>
              <a:t>Use these values as a transparent mathematical exercise, not as a policy-grade climate forecast.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1F30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